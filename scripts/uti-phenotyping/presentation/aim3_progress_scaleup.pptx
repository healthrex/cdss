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79714"/>
  </p:normalViewPr>
  <p:slideViewPr>
    <p:cSldViewPr snapToGrid="0">
      <p:cViewPr>
        <p:scale>
          <a:sx n="118" d="100"/>
          <a:sy n="118" d="100"/>
        </p:scale>
        <p:origin x="152" y="-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07244-E316-D241-AB7E-43383B3F375A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991C5-17E7-494E-9E90-3F3CEE685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051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CD98D-3AA3-FD5C-763F-1161E8D4A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F813A5-3F78-D329-AAD1-19C6B69C4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7BD29-89FB-577E-7045-4CC33D30B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FB9E9-E4F9-FF42-391F-5C850B91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6838D-052A-5ABA-B5AB-197D68FBA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2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F0B9-9260-B130-5889-D290F466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BF6EB-10C1-7C5A-D805-D121E1B2A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73BE-C33F-B200-282C-F3F359F5B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E1BB5-8C4F-8278-5EA4-D8F418A21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85CE4-89D1-07CB-C74C-1322B5733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484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62419-13E9-D87B-1A00-43BBB819D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14C81-7078-8B81-1E39-14F49B8AA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D2082-D60A-B99D-D583-648402BD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664FA-E5C3-FB0E-94E1-8D535C13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518CA-3283-BDEC-BADA-25B164BE1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55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3FB21-0CC3-F65C-7F0B-924AD978E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00DCB-C13F-14DE-CDDB-112B6DC92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F3302-145C-21BE-3126-2871F7FA6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8ACFD-32A3-6ECA-78F8-1E0FF058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DC94E-7865-B087-7796-F8EE61450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49D93-65B0-4A80-4579-235F18BC2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946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8D66C-F14A-E4AC-1BB8-234AD0D41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8ED86-9499-0A4F-45A2-4E1A8CFE0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9D2E9-C014-768B-16CF-9E0110E26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D55027-8943-20A3-2E3E-9741650CC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CAAE3A-9DA3-2CFF-6497-C413554D5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882FB1-D749-4F12-5A6F-40F779938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9CCFF2-60DE-4B6C-0648-AEC28012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BFDEF4-F138-3683-F77B-A004A4BBB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5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88FA4-CBF2-F6E0-E4CA-D2FA6EBD4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7C12FD-B31D-B2DE-55A6-6FD09BFCB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1F084C-D835-3A01-FB24-51DD9655D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3A7EC-EAD5-02C4-4437-37D1021F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4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8B295C-1E43-3ACC-64D6-C956C12D1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4DAD1-3293-75DF-4511-FCCB3AFF8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689CB-3FC4-E51D-CD81-1D67CAEC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3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50D7-338B-5C13-6FBD-E64D88C22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D28E9-D5E8-1483-5FE0-62B2D75DF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12402-3900-B879-CC72-31FACCEFC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52CBC-63F6-AFD4-E356-35563A059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6DA11-7EAE-EE54-2604-59D712933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29F89-3BCA-0478-2E51-4AFE049ED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85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2376-FED7-3611-6CF7-13DA0C62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86B7E-1B55-F925-9279-6FD1FBDD6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5203B-B5A8-08C1-EEEA-4AD4936AB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5DF1E-C3E5-5DE6-A469-7517FF04C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2A11B-18EA-EB80-B55E-114EFC26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FA521-FF08-7CDA-9BF2-4E676631A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71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B66B7-4AE7-17EC-0964-1865663B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E953F-E971-9DF1-03EC-1E2BC5468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6DDF3-B44F-571C-9AF0-C3933BE2A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0D29E-4DCC-9426-5773-BAD821B3D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4AEC6-6D97-A58A-67C8-1AFAD075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29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18BE35-4110-DD86-D47F-2D52045A1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E78C3D-C2FE-D3D2-E1C7-E345ED442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F89EE-0F4A-F440-2130-22FCFB9E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CDC6B-D673-22A9-C661-AE5E33DBB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F7916-89A4-E9D0-42A3-36EFEE126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476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732077-93D1-8D2F-21EF-E7CBBD517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6B880-4200-5150-FAA8-EA30F9CDC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A858C-97C6-F084-ECC9-0CD5F9E0F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137CF-CB31-8515-8945-757491A9F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E7311-0F5A-CC99-2FD8-4608D26C75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4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2000" cy="7315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286000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Aptos Display"/>
              </a:rPr>
              <a:t>LLM-Based UTI Phenotyping</a:t>
            </a:r>
          </a:p>
          <a:p>
            <a:pPr algn="l"/>
            <a:r>
              <a:rPr sz="2600" b="0" i="0">
                <a:solidFill>
                  <a:srgbClr val="0F9ED5"/>
                </a:solidFill>
                <a:latin typeface="Aptos Display"/>
              </a:rPr>
              <a:t>Progress to date &amp; plan to scale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434840"/>
            <a:ext cx="10515600" cy="1097280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Wenyuan Chen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B9C6D1"/>
                </a:solidFill>
                <a:latin typeface="Aptos"/>
              </a:rPr>
              <a:t>Aim 3 · Develop and validate automated methods to electronically phenotype UTIs</a:t>
            </a:r>
          </a:p>
          <a:p>
            <a:pPr algn="l"/>
            <a:r>
              <a:rPr sz="1300" b="0" i="0">
                <a:solidFill>
                  <a:srgbClr val="5A6B73"/>
                </a:solidFill>
                <a:latin typeface="Aptos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6400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32688"/>
          </a:xfrm>
          <a:prstGeom prst="rect">
            <a:avLst/>
          </a:prstGeom>
          <a:noFill/>
        </p:spPr>
        <p:txBody>
          <a:bodyPr wrap="square" anchor="ctr" lIns="128016" rIns="128016" tIns="54864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FE6EF"/>
                </a:solidFill>
                <a:latin typeface="Aptos"/>
              </a:rPr>
              <a:t>ACHIEVED</a:t>
            </a:r>
          </a:p>
          <a:p>
            <a:pPr algn="l"/>
            <a:r>
              <a:rPr sz="2700" b="1" i="0">
                <a:solidFill>
                  <a:srgbClr val="FFFFFF"/>
                </a:solidFill>
                <a:latin typeface="Aptos Display"/>
              </a:rPr>
              <a:t>What we built: an end-to-end phenotyping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419856" cy="178308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3419856" cy="1783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46304" bIns="54864"/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Aptos Display"/>
              </a:rPr>
              <a:t>1 · Data Mapping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FFFFFF"/>
                </a:solidFill>
                <a:latin typeface="Aptos"/>
              </a:rPr>
              <a:t>•  MRN → anon_id + jitter (starr_map)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FFFFFF"/>
                </a:solidFill>
                <a:latin typeface="Aptos"/>
              </a:rPr>
              <a:t>•  Pull cohort, labs, notes from BigQuery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FFFFFF"/>
                </a:solidFill>
                <a:latin typeface="Aptos"/>
              </a:rPr>
              <a:t>•  De-jitter times → curated note set</a:t>
            </a:r>
          </a:p>
        </p:txBody>
      </p:sp>
      <p:sp>
        <p:nvSpPr>
          <p:cNvPr id="7" name="Chevron 6"/>
          <p:cNvSpPr/>
          <p:nvPr/>
        </p:nvSpPr>
        <p:spPr>
          <a:xfrm>
            <a:off x="3895344" y="1924812"/>
            <a:ext cx="237744" cy="402336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51376" y="1234440"/>
            <a:ext cx="3419856" cy="178308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51376" y="1234440"/>
            <a:ext cx="3419856" cy="1783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46304" bIns="54864"/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Aptos Display"/>
              </a:rPr>
              <a:t>2 · LLM Phenotyping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FFFFFF"/>
                </a:solidFill>
                <a:latin typeface="Aptos"/>
              </a:rPr>
              <a:t>•  PHI-safe multi-model client (SHC APIM)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FFFFFF"/>
                </a:solidFill>
                <a:latin typeface="Aptos"/>
              </a:rPr>
              <a:t>•  10 symptoms: Yes / Negation / No + quote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FFFFFF"/>
                </a:solidFill>
                <a:latin typeface="Aptos"/>
              </a:rPr>
              <a:t>•  4 assessments + reasoning (incl. UTI?)</a:t>
            </a:r>
          </a:p>
        </p:txBody>
      </p:sp>
      <p:sp>
        <p:nvSpPr>
          <p:cNvPr id="10" name="Chevron 9"/>
          <p:cNvSpPr/>
          <p:nvPr/>
        </p:nvSpPr>
        <p:spPr>
          <a:xfrm>
            <a:off x="7589520" y="1924812"/>
            <a:ext cx="237744" cy="402336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45552" y="1234440"/>
            <a:ext cx="3419856" cy="1783080"/>
          </a:xfrm>
          <a:prstGeom prst="roundRect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45552" y="1234440"/>
            <a:ext cx="3419856" cy="1783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46304" bIns="54864"/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Aptos Display"/>
              </a:rPr>
              <a:t>3 · Evaluation &amp; Analysis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FFFFFF"/>
                </a:solidFill>
                <a:latin typeface="Aptos"/>
              </a:rPr>
              <a:t>•  Accuracy &amp; Cohen's κ vs. ground truth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FFFFFF"/>
                </a:solidFill>
                <a:latin typeface="Aptos"/>
              </a:rPr>
              <a:t>•  Physician inter-rater agreement (P1 vs P2)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FFFFFF"/>
                </a:solidFill>
                <a:latin typeface="Aptos"/>
              </a:rPr>
              <a:t>•  Missingness &amp; error-driver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11247120" cy="365760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l"/>
            <a:r>
              <a:rPr sz="1600" b="1" i="0">
                <a:solidFill>
                  <a:srgbClr val="156082"/>
                </a:solidFill>
                <a:latin typeface="Aptos Display"/>
              </a:rPr>
              <a:t>Reproducible &amp; PHI-safe by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03320"/>
            <a:ext cx="5440680" cy="224028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82296" cy="224028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03320"/>
            <a:ext cx="5440680" cy="2240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28016" bIns="54864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56082"/>
                </a:solidFill>
                <a:latin typeface="Aptos Display"/>
              </a:rPr>
              <a:t>Engineering delivered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Modular Python package: BigQuery client, data mapper, phenotyper, evaluator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One interface, many models: GPT-5 / 4.1, Claude 3.7 &amp; 3.5, Gemini 2.5 Pro, Llama, DeepSeek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Resumable batch runner — never loses progress on long runs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No PHI leaves the SHC-approved gateway; data kept out of version control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5440680" cy="2240280"/>
          </a:xfrm>
          <a:prstGeom prst="rect">
            <a:avLst/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703320"/>
            <a:ext cx="82296" cy="22402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703320"/>
            <a:ext cx="5440680" cy="2240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28016" bIns="54864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E97132"/>
                </a:solidFill>
                <a:latin typeface="Aptos Display"/>
              </a:rPr>
              <a:t>Run so far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3 models executed end-to-end: GPT-5, Claude 3.7 Sonnet, Gemini 2.5 Pro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66 clinical notes phenotyped per model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Structured per-note output + per-model symptom analyses generated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Validated on a 15-case pilot (next slides)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55664"/>
            <a:ext cx="7315200" cy="310896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l"/>
            <a:r>
              <a:rPr sz="950" b="0" i="0">
                <a:solidFill>
                  <a:srgbClr val="5A6B73"/>
                </a:solidFill>
                <a:latin typeface="Aptos"/>
              </a:rPr>
              <a:t>Aim 3 · LLM-based UTI Phenotyping · Wenyuan Chen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55664"/>
            <a:ext cx="1005840" cy="310896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6400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32688"/>
          </a:xfrm>
          <a:prstGeom prst="rect">
            <a:avLst/>
          </a:prstGeom>
          <a:noFill/>
        </p:spPr>
        <p:txBody>
          <a:bodyPr wrap="square" anchor="ctr" lIns="128016" rIns="128016" tIns="54864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FE6EF"/>
                </a:solidFill>
                <a:latin typeface="Aptos"/>
              </a:rPr>
              <a:t>RESULTS</a:t>
            </a:r>
          </a:p>
          <a:p>
            <a:pPr algn="l"/>
            <a:r>
              <a:rPr sz="2700" b="1" i="0">
                <a:solidFill>
                  <a:srgbClr val="FFFFFF"/>
                </a:solidFill>
                <a:latin typeface="Aptos Display"/>
              </a:rPr>
              <a:t>Pilot results — UTI prediction accuracy (15 cases)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155680" cy="457200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l"/>
            <a:r>
              <a:rPr sz="1500" b="0" i="0">
                <a:solidFill>
                  <a:srgbClr val="5A6B73"/>
                </a:solidFill>
                <a:latin typeface="Aptos"/>
              </a:rPr>
              <a:t>Final UTI? label vs. adjudicated physician ground truth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83080"/>
          <a:ext cx="6583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737360"/>
                <a:gridCol w="1554480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 marT="50800" marB="5080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 anchor="ctr" marT="50800" marB="5080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Errors</a:t>
                      </a:r>
                    </a:p>
                  </a:txBody>
                  <a:tcPr anchor="ctr" marT="50800" marB="50800">
                    <a:solidFill>
                      <a:srgbClr val="15608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A30"/>
                          </a:solidFill>
                          <a:latin typeface="Aptos"/>
                        </a:rPr>
                        <a:t>GPT-5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96B24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A30"/>
                          </a:solidFill>
                          <a:latin typeface="Aptos"/>
                        </a:rPr>
                        <a:t>0 / 15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A30"/>
                          </a:solidFill>
                          <a:latin typeface="Aptos"/>
                        </a:rPr>
                        <a:t>Claude 3.7 Sonnet</a:t>
                      </a:r>
                    </a:p>
                  </a:txBody>
                  <a:tcPr anchor="ctr" marT="50800" marB="50800">
                    <a:solidFill>
                      <a:srgbClr val="E3E8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96B24"/>
                          </a:solidFill>
                          <a:latin typeface="Aptos"/>
                        </a:rPr>
                        <a:t>93.3%</a:t>
                      </a:r>
                    </a:p>
                  </a:txBody>
                  <a:tcPr anchor="ctr" marT="50800" marB="50800">
                    <a:solidFill>
                      <a:srgbClr val="E3E8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A30"/>
                          </a:solidFill>
                          <a:latin typeface="Aptos"/>
                        </a:rPr>
                        <a:t>1 / 15</a:t>
                      </a:r>
                    </a:p>
                  </a:txBody>
                  <a:tcPr anchor="ctr" marT="50800" marB="50800">
                    <a:solidFill>
                      <a:srgbClr val="E3E8E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A30"/>
                          </a:solidFill>
                          <a:latin typeface="Aptos"/>
                        </a:rPr>
                        <a:t>Gemini 2.5 Pro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96B24"/>
                          </a:solidFill>
                          <a:latin typeface="Aptos"/>
                        </a:rPr>
                        <a:t>93.3%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A30"/>
                          </a:solidFill>
                          <a:latin typeface="Aptos"/>
                        </a:rPr>
                        <a:t>1 / 15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0" y="1783080"/>
            <a:ext cx="4389120" cy="246888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783080"/>
            <a:ext cx="82296" cy="246888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783080"/>
            <a:ext cx="4389120" cy="2468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28016" bIns="54864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56082"/>
                </a:solidFill>
                <a:latin typeface="Aptos Display"/>
              </a:rPr>
              <a:t>Why this matters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Frontier models reproduce expert UTI calls on the pilot set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Disagreements are rare and concentrated — and explainable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Establishes a trustworthy baseline before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l"/>
            <a:r>
              <a:rPr sz="1300" b="0" i="1">
                <a:solidFill>
                  <a:srgbClr val="5A6B73"/>
                </a:solidFill>
                <a:latin typeface="Aptos"/>
              </a:rPr>
              <a:t>Small sample (n=15) — results are directional and motivate scale-up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55664"/>
            <a:ext cx="7315200" cy="310896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l"/>
            <a:r>
              <a:rPr sz="950" b="0" i="0">
                <a:solidFill>
                  <a:srgbClr val="5A6B73"/>
                </a:solidFill>
                <a:latin typeface="Aptos"/>
              </a:rPr>
              <a:t>Aim 3 · LLM-based UTI Phenotyping · Wenyuan Chen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55664"/>
            <a:ext cx="1005840" cy="310896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6400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32688"/>
          </a:xfrm>
          <a:prstGeom prst="rect">
            <a:avLst/>
          </a:prstGeom>
          <a:noFill/>
        </p:spPr>
        <p:txBody>
          <a:bodyPr wrap="square" anchor="ctr" lIns="128016" rIns="128016" tIns="54864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FE6EF"/>
                </a:solidFill>
                <a:latin typeface="Aptos"/>
              </a:rPr>
              <a:t>RESULTS</a:t>
            </a:r>
          </a:p>
          <a:p>
            <a:pPr algn="l"/>
            <a:r>
              <a:rPr sz="2700" b="1" i="0">
                <a:solidFill>
                  <a:srgbClr val="FFFFFF"/>
                </a:solidFill>
                <a:latin typeface="Aptos Display"/>
              </a:rPr>
              <a:t>Pilot insight: not all evidence is equal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440680" cy="233172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82296" cy="2331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40680" cy="2331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28016" bIns="54864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56082"/>
                </a:solidFill>
                <a:latin typeface="Aptos Display"/>
              </a:rPr>
              <a:t>Uncertainty of absence (all models agree)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Dysuria — low uncertainty (0.11): its absence is informative → UTI unlikely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Perineal pain, incontinence, suprapubic pain — high uncertainty: absence is NOT reliable</a:t>
            </a:r>
          </a:p>
          <a:p>
            <a:pPr algn="l">
              <a:spcBef>
                <a:spcPts val="800"/>
              </a:spcBef>
            </a:pPr>
            <a:r>
              <a:rPr sz="1250" b="1" i="0">
                <a:solidFill>
                  <a:srgbClr val="0E2841"/>
                </a:solidFill>
                <a:latin typeface="Aptos"/>
              </a:rPr>
              <a:t>Takeaway: a missing symptom ≠ a negative symptom; some absences carry real diagnostic signal.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5440680" cy="2331720"/>
          </a:xfrm>
          <a:prstGeom prst="rect">
            <a:avLst/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82296" cy="23317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5440680" cy="2331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28016" bIns="54864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E97132"/>
                </a:solidFill>
                <a:latin typeface="Aptos Display"/>
              </a:rPr>
              <a:t>Feature-level error drivers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Gemini: hematuria mismatch is the strongest error predictor (r = 0.68, p = 0.005)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Claude: dysuria mismatch → error signal (r = 0.44)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Hematuria is rarely documented (~20%) → a critical blind spot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11247120" cy="141732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1247120" cy="1417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 bIns="54864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9ED5"/>
                </a:solidFill>
                <a:latin typeface="Aptos Display"/>
              </a:rPr>
              <a:t>Highest-ROI direction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Aptos"/>
              </a:rPr>
              <a:t>Focus prompt + extraction refinement on symptoms that are highly diagnostic yet poorly documented or mis-extracted (e.g. hematuria). Move from binary Yes/No toward a probabilistic, confidence-weighted phenotype.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55664"/>
            <a:ext cx="7315200" cy="310896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l"/>
            <a:r>
              <a:rPr sz="950" b="0" i="0">
                <a:solidFill>
                  <a:srgbClr val="5A6B73"/>
                </a:solidFill>
                <a:latin typeface="Aptos"/>
              </a:rPr>
              <a:t>Aim 3 · LLM-based UTI Phenotyping · Wenyuan 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55664"/>
            <a:ext cx="1005840" cy="310896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6400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32688"/>
          </a:xfrm>
          <a:prstGeom prst="rect">
            <a:avLst/>
          </a:prstGeom>
          <a:noFill/>
        </p:spPr>
        <p:txBody>
          <a:bodyPr wrap="square" anchor="ctr" lIns="128016" rIns="128016" tIns="54864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FE6EF"/>
                </a:solidFill>
                <a:latin typeface="Aptos"/>
              </a:rPr>
              <a:t>DATA</a:t>
            </a:r>
          </a:p>
          <a:p>
            <a:pPr algn="l"/>
            <a:r>
              <a:rPr sz="2700" b="1" i="0">
                <a:solidFill>
                  <a:srgbClr val="FFFFFF"/>
                </a:solidFill>
                <a:latin typeface="Aptos Display"/>
              </a:rPr>
              <a:t>Input data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155680" cy="411480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l"/>
            <a:r>
              <a:rPr sz="1450" b="1" i="0">
                <a:solidFill>
                  <a:srgbClr val="0E2841"/>
                </a:solidFill>
                <a:latin typeface="Aptos"/>
              </a:rPr>
              <a:t>Adjudication file: 109 cases × 75 columns  (HK_Group2_Collins_Lee — Adjudication.csv)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788920" cy="54864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27889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54864" bIns="54864"/>
          <a:lstStyle/>
          <a:p>
            <a:pPr algn="l"/>
            <a:r>
              <a:rPr sz="1250" b="1" i="0">
                <a:solidFill>
                  <a:srgbClr val="FFFFFF"/>
                </a:solidFill>
                <a:latin typeface="Aptos"/>
              </a:rPr>
              <a:t>Identifiers (5 cols)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645920"/>
            <a:ext cx="8485632" cy="548640"/>
          </a:xfrm>
          <a:prstGeom prst="rect">
            <a:avLst/>
          </a:prstGeom>
          <a:solidFill>
            <a:srgbClr val="EEF3F6"/>
          </a:solidFill>
          <a:ln w="12700"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1645920"/>
            <a:ext cx="848563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/>
            <a:r>
              <a:rPr sz="1150" b="0" i="0">
                <a:solidFill>
                  <a:srgbClr val="222A30"/>
                </a:solidFill>
                <a:latin typeface="Aptos"/>
              </a:rPr>
              <a:t>patient_MRN · Urine Culture order date/time · Note Type · Note Date/Time (Collins) · (Lee)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67712"/>
            <a:ext cx="2788920" cy="86868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67712"/>
            <a:ext cx="278892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54864" bIns="54864"/>
          <a:lstStyle/>
          <a:p>
            <a:pPr algn="l"/>
            <a:r>
              <a:rPr sz="1250" b="1" i="0">
                <a:solidFill>
                  <a:srgbClr val="FFFFFF"/>
                </a:solidFill>
                <a:latin typeface="Aptos"/>
              </a:rPr>
              <a:t>Per field × 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267712"/>
            <a:ext cx="848563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2267712"/>
            <a:ext cx="848563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/>
            <a:r>
              <a:rPr sz="1150" b="0" i="0">
                <a:solidFill>
                  <a:srgbClr val="222A30"/>
                </a:solidFill>
                <a:latin typeface="Aptos"/>
              </a:rPr>
              <a:t>10 symptoms (dysuria, fever, urgency, frequency, suprapubic, flank/CVA, perineal, incontinence, hematuria, ability-to-report) + 4 assessments (UTI?, any infection?, presumed infection plausible?, prophylaxis appropriate?)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9544"/>
            <a:ext cx="2788920" cy="65836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9544"/>
            <a:ext cx="278892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54864" bIns="54864"/>
          <a:lstStyle/>
          <a:p>
            <a:pPr algn="l"/>
            <a:r>
              <a:rPr sz="1250" b="1" i="0">
                <a:solidFill>
                  <a:srgbClr val="FFFFFF"/>
                </a:solidFill>
                <a:latin typeface="Aptos"/>
              </a:rPr>
              <a:t>...each field has 5 cols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209544"/>
            <a:ext cx="8485632" cy="658368"/>
          </a:xfrm>
          <a:prstGeom prst="rect">
            <a:avLst/>
          </a:prstGeom>
          <a:solidFill>
            <a:srgbClr val="EEF3F6"/>
          </a:solidFill>
          <a:ln w="12700"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3209544"/>
            <a:ext cx="848563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/>
            <a:r>
              <a:rPr sz="1150" b="0" i="0">
                <a:solidFill>
                  <a:srgbClr val="222A30"/>
                </a:solidFill>
                <a:latin typeface="Aptos"/>
              </a:rPr>
              <a:t>P1 (Collins) label · P1 support quote · P2 (Lee) label · P2 support quote · adjudicated ground_truth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41064"/>
            <a:ext cx="2788920" cy="54864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941064"/>
            <a:ext cx="27889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54864" bIns="54864"/>
          <a:lstStyle/>
          <a:p>
            <a:pPr algn="l"/>
            <a:r>
              <a:rPr sz="1250" b="1" i="0">
                <a:solidFill>
                  <a:srgbClr val="FFFFFF"/>
                </a:solidFill>
                <a:latin typeface="Aptos"/>
              </a:rPr>
              <a:t>Label values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3941064"/>
            <a:ext cx="84856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3941064"/>
            <a:ext cx="848563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/>
            <a:r>
              <a:rPr sz="1150" b="0" i="0">
                <a:solidFill>
                  <a:srgbClr val="222A30"/>
                </a:solidFill>
                <a:latin typeface="Aptos"/>
              </a:rPr>
              <a:t>Symptoms: Yes / Negation / No    ·    Assessments: Yes / No / Unclear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62856"/>
            <a:ext cx="10972800" cy="310896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l"/>
            <a:r>
              <a:rPr sz="1300" b="1" i="0">
                <a:solidFill>
                  <a:srgbClr val="E97132"/>
                </a:solidFill>
                <a:latin typeface="Aptos Display"/>
              </a:rPr>
              <a:t>How a labeled case is resolved to its note (de-identified, via BigQuery):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92040"/>
            <a:ext cx="2670048" cy="86868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4892040"/>
            <a:ext cx="2670048" cy="8686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patient_MRN</a:t>
            </a:r>
          </a:p>
        </p:txBody>
      </p:sp>
      <p:sp>
        <p:nvSpPr>
          <p:cNvPr id="25" name="Chevron 24"/>
          <p:cNvSpPr/>
          <p:nvPr/>
        </p:nvSpPr>
        <p:spPr>
          <a:xfrm>
            <a:off x="3108960" y="5129784"/>
            <a:ext cx="201168" cy="384048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28416" y="4892040"/>
            <a:ext cx="2670048" cy="86868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28416" y="4892040"/>
            <a:ext cx="2670048" cy="8686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starr_map → anon_id + jitter</a:t>
            </a:r>
          </a:p>
        </p:txBody>
      </p:sp>
      <p:sp>
        <p:nvSpPr>
          <p:cNvPr id="28" name="Chevron 27"/>
          <p:cNvSpPr/>
          <p:nvPr/>
        </p:nvSpPr>
        <p:spPr>
          <a:xfrm>
            <a:off x="5980176" y="5129784"/>
            <a:ext cx="201168" cy="384048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99632" y="4892040"/>
            <a:ext cx="2670048" cy="868680"/>
          </a:xfrm>
          <a:prstGeom prst="round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99632" y="4892040"/>
            <a:ext cx="2670048" cy="8686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uti_prediction.cohort / notes + lab_result</a:t>
            </a:r>
          </a:p>
        </p:txBody>
      </p:sp>
      <p:sp>
        <p:nvSpPr>
          <p:cNvPr id="31" name="Chevron 30"/>
          <p:cNvSpPr/>
          <p:nvPr/>
        </p:nvSpPr>
        <p:spPr>
          <a:xfrm>
            <a:off x="8851392" y="5129784"/>
            <a:ext cx="201168" cy="384048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070848" y="4892040"/>
            <a:ext cx="2670048" cy="868680"/>
          </a:xfrm>
          <a:prstGeom prst="roundRect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70848" y="4892040"/>
            <a:ext cx="2670048" cy="8686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de-jittered de-id note 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55664"/>
            <a:ext cx="7315200" cy="310896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l"/>
            <a:r>
              <a:rPr sz="950" b="0" i="0">
                <a:solidFill>
                  <a:srgbClr val="5A6B73"/>
                </a:solidFill>
                <a:latin typeface="Aptos"/>
              </a:rPr>
              <a:t>Aim 3 · LLM-based UTI Phenotyping · Wenyuan Chen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55664"/>
            <a:ext cx="1005840" cy="310896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6400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32688"/>
          </a:xfrm>
          <a:prstGeom prst="rect">
            <a:avLst/>
          </a:prstGeom>
          <a:noFill/>
        </p:spPr>
        <p:txBody>
          <a:bodyPr wrap="square" anchor="ctr" lIns="128016" rIns="128016" tIns="54864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FE6EF"/>
                </a:solidFill>
                <a:latin typeface="Aptos"/>
              </a:rPr>
              <a:t>PLAN</a:t>
            </a:r>
          </a:p>
          <a:p>
            <a:pPr algn="l"/>
            <a:r>
              <a:rPr sz="2700" b="1" i="0">
                <a:solidFill>
                  <a:srgbClr val="FFFFFF"/>
                </a:solidFill>
                <a:latin typeface="Aptos Display"/>
              </a:rPr>
              <a:t>Next step: scale up to the complete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47120" cy="1051560"/>
          </a:xfrm>
          <a:prstGeom prst="round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108960" cy="868680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5A6B73"/>
                </a:solidFill>
                <a:latin typeface="Aptos Display"/>
              </a:rPr>
              <a:t>15</a:t>
            </a:r>
          </a:p>
          <a:p>
            <a:pPr algn="l"/>
            <a:r>
              <a:rPr sz="1200" b="0" i="0">
                <a:solidFill>
                  <a:srgbClr val="5A6B73"/>
                </a:solidFill>
                <a:latin typeface="Aptos"/>
              </a:rPr>
              <a:t>pilot cases (now)</a:t>
            </a:r>
          </a:p>
        </p:txBody>
      </p:sp>
      <p:sp>
        <p:nvSpPr>
          <p:cNvPr id="7" name="Chevron 6"/>
          <p:cNvSpPr/>
          <p:nvPr/>
        </p:nvSpPr>
        <p:spPr>
          <a:xfrm>
            <a:off x="3657600" y="1627632"/>
            <a:ext cx="502920" cy="310896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325880"/>
            <a:ext cx="3291840" cy="868680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56082"/>
                </a:solidFill>
                <a:latin typeface="Aptos Display"/>
              </a:rPr>
              <a:t>109 → 358</a:t>
            </a:r>
          </a:p>
          <a:p>
            <a:pPr algn="l"/>
            <a:r>
              <a:rPr sz="1200" b="0" i="0">
                <a:solidFill>
                  <a:srgbClr val="156082"/>
                </a:solidFill>
                <a:latin typeface="Aptos"/>
              </a:rPr>
              <a:t>full adjudicated gold set</a:t>
            </a:r>
          </a:p>
        </p:txBody>
      </p:sp>
      <p:sp>
        <p:nvSpPr>
          <p:cNvPr id="9" name="Chevron 8"/>
          <p:cNvSpPr/>
          <p:nvPr/>
        </p:nvSpPr>
        <p:spPr>
          <a:xfrm>
            <a:off x="7543800" y="1627632"/>
            <a:ext cx="502920" cy="310896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325880"/>
            <a:ext cx="3383280" cy="868680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6B24"/>
                </a:solidFill>
                <a:latin typeface="Aptos Display"/>
              </a:rPr>
              <a:t>2.4 M</a:t>
            </a:r>
          </a:p>
          <a:p>
            <a:pPr algn="l"/>
            <a:r>
              <a:rPr sz="1200" b="0" i="0">
                <a:solidFill>
                  <a:srgbClr val="196B24"/>
                </a:solidFill>
                <a:latin typeface="Aptos"/>
              </a:rPr>
              <a:t>cohort for silver labeling (vision)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42032"/>
            <a:ext cx="5532120" cy="1627632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42032"/>
            <a:ext cx="82296" cy="162763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42032"/>
            <a:ext cx="5532120" cy="16276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28016" bIns="54864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56082"/>
                </a:solidFill>
                <a:latin typeface="Aptos Display"/>
              </a:rPr>
              <a:t>Complete the dataset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Map &amp; match all adjudicated cases (improve MRN/time match rate beyond current 66)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Run all 3 models on the full gold 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542032"/>
            <a:ext cx="5532120" cy="1627632"/>
          </a:xfrm>
          <a:prstGeom prst="rect">
            <a:avLst/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542032"/>
            <a:ext cx="82296" cy="162763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542032"/>
            <a:ext cx="5532120" cy="16276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28016" bIns="54864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E97132"/>
                </a:solidFill>
                <a:latin typeface="Aptos Display"/>
              </a:rPr>
              <a:t>Show input clearly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Document the 75-col schema + de-id mapping flow (this deck)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Publish a data dictionary for the next analyst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34256"/>
            <a:ext cx="5532120" cy="1627632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34256"/>
            <a:ext cx="82296" cy="1627632"/>
          </a:xfrm>
          <a:prstGeom prst="rect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34256"/>
            <a:ext cx="5532120" cy="16276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28016" bIns="54864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96B24"/>
                </a:solidFill>
                <a:latin typeface="Aptos Display"/>
              </a:rPr>
              <a:t>Full evaluation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Accuracy, κ, precision/recall/F1 per symptom &amp; assessment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Confidence-score calibration; physician inter-rater upper bound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334256"/>
            <a:ext cx="5532120" cy="1627632"/>
          </a:xfrm>
          <a:prstGeom prst="rect">
            <a:avLst/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334256"/>
            <a:ext cx="82296" cy="1627632"/>
          </a:xfrm>
          <a:prstGeom prst="rect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334256"/>
            <a:ext cx="5532120" cy="16276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28016" bIns="54864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A02B93"/>
                </a:solidFill>
                <a:latin typeface="Aptos Display"/>
              </a:rPr>
              <a:t>Hybrid phenotype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Combine rule-based silver label + LLM symptom matrix + uncertainty-of-absence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Target the documentation blind spots (e.g. hematuria)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55664"/>
            <a:ext cx="7315200" cy="310896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l"/>
            <a:r>
              <a:rPr sz="950" b="0" i="0">
                <a:solidFill>
                  <a:srgbClr val="5A6B73"/>
                </a:solidFill>
                <a:latin typeface="Aptos"/>
              </a:rPr>
              <a:t>Aim 3 · LLM-based UTI Phenotyping · Wenyuan Chen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55664"/>
            <a:ext cx="1005840" cy="310896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6400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32688"/>
          </a:xfrm>
          <a:prstGeom prst="rect">
            <a:avLst/>
          </a:prstGeom>
          <a:noFill/>
        </p:spPr>
        <p:txBody>
          <a:bodyPr wrap="square" anchor="ctr" lIns="128016" rIns="128016" tIns="54864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FE6EF"/>
                </a:solidFill>
                <a:latin typeface="Aptos"/>
              </a:rPr>
              <a:t>WRAP-UP</a:t>
            </a:r>
          </a:p>
          <a:p>
            <a:pPr algn="l"/>
            <a:r>
              <a:rPr sz="2700" b="1" i="0">
                <a:solidFill>
                  <a:srgbClr val="FFFFFF"/>
                </a:solidFill>
                <a:latin typeface="Aptos Display"/>
              </a:rPr>
              <a:t>Summary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40680" cy="2286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82296" cy="2286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40680" cy="228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28016" bIns="54864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56082"/>
                </a:solidFill>
                <a:latin typeface="Aptos Display"/>
              </a:rPr>
              <a:t>Where we are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Reproducible, PHI-safe, multi-model phenotyping pipeline is built and running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3 frontier models executed on 66 notes; validated on a 15-case pilot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Pilot shows expert-level UTI calls + actionable error/uncertainty 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80160"/>
            <a:ext cx="5440680" cy="2286000"/>
          </a:xfrm>
          <a:prstGeom prst="rect">
            <a:avLst/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80160"/>
            <a:ext cx="82296" cy="2286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440680" cy="228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28016" bIns="54864"/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E97132"/>
                </a:solidFill>
                <a:latin typeface="Aptos Display"/>
              </a:rPr>
              <a:t>Where we're going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Scale extraction + evaluation to the full adjudicated gold set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Report calibrated, per-field metrics against ground truth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222A30"/>
                </a:solidFill>
                <a:latin typeface="Aptos"/>
              </a:rPr>
              <a:t>•  Fuse LLM reasoning with rule-based silver labels for deep phenotyping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l"/>
            <a:r>
              <a:rPr sz="1500" b="1" i="0">
                <a:solidFill>
                  <a:srgbClr val="0E2841"/>
                </a:solidFill>
                <a:latin typeface="Aptos Display"/>
              </a:rPr>
              <a:t>Near-term sequence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80560"/>
            <a:ext cx="2697480" cy="105156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2697480" cy="10515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F9ED5"/>
                </a:solidFill>
                <a:latin typeface="Aptos Display"/>
              </a:rPr>
              <a:t>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Complete mapping</a:t>
            </a:r>
          </a:p>
        </p:txBody>
      </p:sp>
      <p:sp>
        <p:nvSpPr>
          <p:cNvPr id="14" name="Chevron 13"/>
          <p:cNvSpPr/>
          <p:nvPr/>
        </p:nvSpPr>
        <p:spPr>
          <a:xfrm>
            <a:off x="3136392" y="4828032"/>
            <a:ext cx="201168" cy="365760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19272" y="4480560"/>
            <a:ext cx="2697480" cy="105156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19272" y="4480560"/>
            <a:ext cx="2697480" cy="10515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F9ED5"/>
                </a:solidFill>
                <a:latin typeface="Aptos Display"/>
              </a:rPr>
              <a:t>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Full-set LLM runs</a:t>
            </a:r>
          </a:p>
        </p:txBody>
      </p:sp>
      <p:sp>
        <p:nvSpPr>
          <p:cNvPr id="17" name="Chevron 16"/>
          <p:cNvSpPr/>
          <p:nvPr/>
        </p:nvSpPr>
        <p:spPr>
          <a:xfrm>
            <a:off x="5998464" y="4828032"/>
            <a:ext cx="201168" cy="365760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344" y="4480560"/>
            <a:ext cx="2697480" cy="1051560"/>
          </a:xfrm>
          <a:prstGeom prst="roundRect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81344" y="4480560"/>
            <a:ext cx="2697480" cy="10515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F9ED5"/>
                </a:solidFill>
                <a:latin typeface="Aptos Display"/>
              </a:rPr>
              <a:t>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Calibrated evaluation</a:t>
            </a:r>
          </a:p>
        </p:txBody>
      </p:sp>
      <p:sp>
        <p:nvSpPr>
          <p:cNvPr id="20" name="Chevron 19"/>
          <p:cNvSpPr/>
          <p:nvPr/>
        </p:nvSpPr>
        <p:spPr>
          <a:xfrm>
            <a:off x="8860536" y="4828032"/>
            <a:ext cx="201168" cy="365760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43416" y="4480560"/>
            <a:ext cx="2697480" cy="1051560"/>
          </a:xfrm>
          <a:prstGeom prst="roundRect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43416" y="4480560"/>
            <a:ext cx="2697480" cy="10515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F9ED5"/>
                </a:solidFill>
                <a:latin typeface="Aptos Display"/>
              </a:rPr>
              <a:t>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Hybrid phenotype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55664"/>
            <a:ext cx="7315200" cy="310896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l"/>
            <a:r>
              <a:rPr sz="950" b="0" i="0">
                <a:solidFill>
                  <a:srgbClr val="5A6B73"/>
                </a:solidFill>
                <a:latin typeface="Aptos"/>
              </a:rPr>
              <a:t>Aim 3 · LLM-based UTI Phenotyping · Wenyuan Chen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55664"/>
            <a:ext cx="1005840" cy="310896"/>
          </a:xfrm>
          <a:prstGeom prst="rect">
            <a:avLst/>
          </a:prstGeom>
          <a:noFill/>
        </p:spPr>
        <p:txBody>
          <a:bodyPr wrap="square" anchor="t" lIns="128016" rIns="128016" tIns="54864" bIns="54864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14967</TotalTime>
  <Words>888</Words>
  <Application>Microsoft Macintosh PowerPoint</Application>
  <PresentationFormat>Widescreen</PresentationFormat>
  <Paragraphs>116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Google Sans Text</vt:lpstr>
      <vt:lpstr>Aptos</vt:lpstr>
      <vt:lpstr>Aptos Display</vt:lpstr>
      <vt:lpstr>Arial</vt:lpstr>
      <vt:lpstr>Office Theme</vt:lpstr>
      <vt:lpstr>Prelim Results on 15 cases</vt:lpstr>
      <vt:lpstr>Understanding LLM Performance in UTI Phenotyping</vt:lpstr>
      <vt:lpstr>UTI Prediction Accuracy</vt:lpstr>
      <vt:lpstr>Why Models Fail &amp; What to Fix</vt:lpstr>
      <vt:lpstr>Develop and validate automated methods to electronic phenotype UTIs</vt:lpstr>
      <vt:lpstr>Previous work on this aim</vt:lpstr>
      <vt:lpstr>Silver label</vt:lpstr>
      <vt:lpstr>PowerPoint Presentation</vt:lpstr>
      <vt:lpstr>Extension</vt:lpstr>
      <vt:lpstr>Questions</vt:lpstr>
      <vt:lpstr>Design </vt:lpstr>
      <vt:lpstr>Innovation: Uncertainty of Absence ?</vt:lpstr>
      <vt:lpstr>Prelim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Sandy Chen</dc:creator>
  <cp:lastModifiedBy>Sandy Chen</cp:lastModifiedBy>
  <cp:revision>6</cp:revision>
  <dcterms:created xsi:type="dcterms:W3CDTF">2026-02-19T17:19:21Z</dcterms:created>
  <dcterms:modified xsi:type="dcterms:W3CDTF">2026-04-02T17:58:29Z</dcterms:modified>
</cp:coreProperties>
</file>
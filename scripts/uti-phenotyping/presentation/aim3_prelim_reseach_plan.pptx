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68" r:id="rId3"/>
    <p:sldId id="270" r:id="rId4"/>
    <p:sldId id="271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79714"/>
  </p:normalViewPr>
  <p:slideViewPr>
    <p:cSldViewPr snapToGrid="0">
      <p:cViewPr>
        <p:scale>
          <a:sx n="118" d="100"/>
          <a:sy n="118" d="100"/>
        </p:scale>
        <p:origin x="152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07244-E316-D241-AB7E-43383B3F375A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91C5-17E7-494E-9E90-3F3CEE68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5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991C5-17E7-494E-9E90-3F3CEE685B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6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Uncertain as label </a:t>
            </a:r>
          </a:p>
          <a:p>
            <a:r>
              <a:rPr lang="en-US" dirty="0" err="1"/>
              <a:t>Probabilisitc</a:t>
            </a:r>
            <a:r>
              <a:rPr lang="en-US" dirty="0"/>
              <a:t>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991C5-17E7-494E-9E90-3F3CEE685B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64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D98D-3AA3-FD5C-763F-1161E8D4A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813A5-3F78-D329-AAD1-19C6B69C4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BD29-89FB-577E-7045-4CC33D30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FB9E9-E4F9-FF42-391F-5C850B9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6838D-052A-5ABA-B5AB-197D68FB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F0B9-9260-B130-5889-D290F466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F6EB-10C1-7C5A-D805-D121E1B2A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73BE-C33F-B200-282C-F3F359F5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E1BB5-8C4F-8278-5EA4-D8F418A2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85CE4-89D1-07CB-C74C-1322B573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8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2419-13E9-D87B-1A00-43BBB819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14C81-7078-8B81-1E39-14F49B8AA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2082-D60A-B99D-D583-648402BD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64FA-E5C3-FB0E-94E1-8D535C13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518CA-3283-BDEC-BADA-25B164BE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5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FB21-0CC3-F65C-7F0B-924AD978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0DCB-C13F-14DE-CDDB-112B6DC9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F3302-145C-21BE-3126-2871F7FA6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8ACFD-32A3-6ECA-78F8-1E0FF058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DC94E-7865-B087-7796-F8EE6145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49D93-65B0-4A80-4579-235F18BC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4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D66C-F14A-E4AC-1BB8-234AD0D4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8ED86-9499-0A4F-45A2-4E1A8CFE0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9D2E9-C014-768B-16CF-9E0110E2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55027-8943-20A3-2E3E-9741650CC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AAE3A-9DA3-2CFF-6497-C413554D5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82FB1-D749-4F12-5A6F-40F77993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CCFF2-60DE-4B6C-0648-AEC28012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FDEF4-F138-3683-F77B-A004A4BB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8FA4-CBF2-F6E0-E4CA-D2FA6EBD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C12FD-B31D-B2DE-55A6-6FD09BFC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F084C-D835-3A01-FB24-51DD9655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3A7EC-EAD5-02C4-4437-37D1021F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B295C-1E43-3ACC-64D6-C956C12D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4DAD1-3293-75DF-4511-FCCB3AFF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89CB-3FC4-E51D-CD81-1D67CAEC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3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50D7-338B-5C13-6FBD-E64D88C2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28E9-D5E8-1483-5FE0-62B2D75DF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12402-3900-B879-CC72-31FACCEF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52CBC-63F6-AFD4-E356-35563A05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6DA11-7EAE-EE54-2604-59D71293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29F89-3BCA-0478-2E51-4AFE049E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5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376-FED7-3611-6CF7-13DA0C62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86B7E-1B55-F925-9279-6FD1FBDD6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5203B-B5A8-08C1-EEEA-4AD4936AB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DF1E-C3E5-5DE6-A469-7517FF04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2A11B-18EA-EB80-B55E-114EFC26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FA521-FF08-7CDA-9BF2-4E676631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7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66B7-4AE7-17EC-0964-1865663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E953F-E971-9DF1-03EC-1E2BC5468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DDF3-B44F-571C-9AF0-C3933BE2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D29E-4DCC-9426-5773-BAD821B3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4AEC6-6D97-A58A-67C8-1AFAD07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8BE35-4110-DD86-D47F-2D52045A1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78C3D-C2FE-D3D2-E1C7-E345ED442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89EE-0F4A-F440-2130-22FCFB9E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DC6B-D673-22A9-C661-AE5E33DB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F7916-89A4-E9D0-42A3-36EFEE12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4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32077-93D1-8D2F-21EF-E7CBBD51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6B880-4200-5150-FAA8-EA30F9CDC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858C-97C6-F084-ECC9-0CD5F9E0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B5576-09C4-064B-947F-F2B4F50B375C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37CF-CB31-8515-8945-757491A9F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7311-0F5A-CC99-2FD8-4608D26C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442A5-5D28-2C4B-92BE-27A86C51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B343-31EA-1415-0645-A46CA215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F80E-0E27-BD0D-9A69-B5BB0DF73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Prelim Results on 15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586FA-8997-1DBB-2E68-7F2AEEC7E2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031726</a:t>
            </a:r>
          </a:p>
          <a:p>
            <a:r>
              <a:rPr lang="en-US" dirty="0"/>
              <a:t>Wenyuan Chen</a:t>
            </a:r>
          </a:p>
        </p:txBody>
      </p:sp>
    </p:spTree>
    <p:extLst>
      <p:ext uri="{BB962C8B-B14F-4D97-AF65-F5344CB8AC3E}">
        <p14:creationId xmlns:p14="http://schemas.microsoft.com/office/powerpoint/2010/main" val="2492869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58C75-1D86-2E2E-0FC3-85E95220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LLM Performance in UTI Phenotyping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86ED2F-E81C-D1BD-8082-645B8BEE42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8190" y="1816876"/>
            <a:ext cx="10008870" cy="434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Understanding LLM Performance in UTI Phenotyping</a:t>
            </a:r>
            <a:endParaRPr lang="en-US" sz="2000" dirty="0"/>
          </a:p>
          <a:p>
            <a:r>
              <a:rPr lang="en-US" sz="2000" dirty="0"/>
              <a:t>Compare </a:t>
            </a:r>
            <a:r>
              <a:rPr lang="en-US" sz="2000" b="1" dirty="0"/>
              <a:t>LLM-extracted symptoms vs physician ground truth</a:t>
            </a:r>
            <a:r>
              <a:rPr lang="en-US" sz="2000" dirty="0"/>
              <a:t> </a:t>
            </a:r>
          </a:p>
          <a:p>
            <a:r>
              <a:rPr lang="en-US" sz="2000" dirty="0"/>
              <a:t>Goal: explain </a:t>
            </a:r>
            <a:r>
              <a:rPr lang="en-US" sz="2000" b="1" dirty="0"/>
              <a:t>how and why models succeed or fail</a:t>
            </a:r>
            <a:r>
              <a:rPr lang="en-US" sz="2000" dirty="0"/>
              <a:t> </a:t>
            </a:r>
          </a:p>
          <a:p>
            <a:r>
              <a:rPr lang="en-US" sz="2000" b="1" dirty="0"/>
              <a:t>Key Challenge</a:t>
            </a:r>
            <a:endParaRPr lang="en-US" sz="2000" dirty="0"/>
          </a:p>
          <a:p>
            <a:r>
              <a:rPr lang="en-US" sz="2000" dirty="0"/>
              <a:t>UTI diagnosis is </a:t>
            </a:r>
            <a:r>
              <a:rPr lang="en-US" sz="2000" b="1" dirty="0"/>
              <a:t>subjective</a:t>
            </a:r>
            <a:r>
              <a:rPr lang="en-US" sz="2000" dirty="0"/>
              <a:t> </a:t>
            </a:r>
          </a:p>
          <a:p>
            <a:r>
              <a:rPr lang="en-US" sz="2000" dirty="0"/>
              <a:t>LLM disagreement ≠ always wrong (maybe incomplete documentation)</a:t>
            </a:r>
          </a:p>
          <a:p>
            <a:r>
              <a:rPr lang="en-US" sz="2000" dirty="0"/>
              <a:t>Missing documentation → </a:t>
            </a:r>
            <a:r>
              <a:rPr lang="en-US" sz="2000" b="1" dirty="0"/>
              <a:t>incomplete evidence for LLM</a:t>
            </a:r>
            <a:r>
              <a:rPr lang="en-US" sz="2000" dirty="0"/>
              <a:t> </a:t>
            </a:r>
          </a:p>
          <a:p>
            <a:r>
              <a:rPr lang="en-US" sz="2000" b="1" dirty="0"/>
              <a:t>Core Insight</a:t>
            </a:r>
            <a:endParaRPr lang="en-US" sz="2000" dirty="0"/>
          </a:p>
          <a:p>
            <a:r>
              <a:rPr lang="en-US" sz="2000" dirty="0"/>
              <a:t>Performance depends on both: </a:t>
            </a:r>
          </a:p>
          <a:p>
            <a:pPr lvl="1"/>
            <a:r>
              <a:rPr lang="en-US" sz="2000" dirty="0"/>
              <a:t>Model reasoning </a:t>
            </a:r>
          </a:p>
          <a:p>
            <a:pPr lvl="1"/>
            <a:r>
              <a:rPr lang="en-US" sz="2000" dirty="0"/>
              <a:t>What clinicians document (availability of evidence)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951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E378-4A5E-B5E9-62D6-F80DB8F0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 Prediction Accuracy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90EC3E-D10E-0E38-2136-F4A5E92AC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675776"/>
              </p:ext>
            </p:extLst>
          </p:nvPr>
        </p:nvGraphicFramePr>
        <p:xfrm>
          <a:off x="838200" y="1507808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213456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089286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0607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19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76957D-301C-BF0E-5137-23C9FD70A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634710"/>
              </p:ext>
            </p:extLst>
          </p:nvPr>
        </p:nvGraphicFramePr>
        <p:xfrm>
          <a:off x="838200" y="2104550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853762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8308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87571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GPT-5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 / 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54407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D41571-656F-67A5-B855-03CF0C17E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436669"/>
              </p:ext>
            </p:extLst>
          </p:nvPr>
        </p:nvGraphicFramePr>
        <p:xfrm>
          <a:off x="838200" y="2600961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820442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61642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9832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Claude 3.7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93.3%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/ 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94241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D870F17-0A93-99D2-C1FF-F0DA028F4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13233"/>
              </p:ext>
            </p:extLst>
          </p:nvPr>
        </p:nvGraphicFramePr>
        <p:xfrm>
          <a:off x="838200" y="3097372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096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65342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9958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Gemini 2.5 Pro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93.3%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/ 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17748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0849C132-3571-21A9-E1CA-5D5CE4DC0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" y="3593783"/>
            <a:ext cx="67310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Missingness Insight (All Models Agree)</a:t>
            </a:r>
            <a:endParaRPr lang="en-US" dirty="0"/>
          </a:p>
          <a:p>
            <a:r>
              <a:rPr lang="en-US" b="1" dirty="0"/>
              <a:t>Dysuria (low uncertainty = 0.11)</a:t>
            </a:r>
            <a:br>
              <a:rPr lang="en-US" dirty="0"/>
            </a:br>
            <a:r>
              <a:rPr lang="en-US" dirty="0"/>
              <a:t>→ Absence is informative → UTI unlikely </a:t>
            </a:r>
          </a:p>
          <a:p>
            <a:r>
              <a:rPr lang="en-US" b="1" dirty="0"/>
              <a:t>Perineal pain, incontinence, suprapubic pain (high uncertainty)</a:t>
            </a:r>
            <a:br>
              <a:rPr lang="en-US" dirty="0"/>
            </a:br>
            <a:r>
              <a:rPr lang="en-US" dirty="0"/>
              <a:t>→ Absence not reliable </a:t>
            </a:r>
          </a:p>
          <a:p>
            <a:r>
              <a:rPr lang="en-US" b="1" dirty="0"/>
              <a:t>Takeaway</a:t>
            </a:r>
            <a:endParaRPr lang="en-US" dirty="0"/>
          </a:p>
          <a:p>
            <a:r>
              <a:rPr lang="en-US" dirty="0"/>
              <a:t>Not all missing symptoms are equal weighted</a:t>
            </a:r>
          </a:p>
          <a:p>
            <a:r>
              <a:rPr lang="en-US" dirty="0"/>
              <a:t>Some absences carry </a:t>
            </a:r>
            <a:r>
              <a:rPr lang="en-US" b="1" dirty="0"/>
              <a:t>real diagnostic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3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78FA-5B9E-4C0B-545E-801CEA7E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Models Fail &amp; What to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ABF2-A469-2B79-AB48-8EE0D8D56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Feature-Level Error Drivers</a:t>
            </a:r>
            <a:endParaRPr lang="en-US" dirty="0"/>
          </a:p>
          <a:p>
            <a:pPr lvl="1"/>
            <a:r>
              <a:rPr lang="en-US" b="1" dirty="0"/>
              <a:t>Claude:</a:t>
            </a:r>
            <a:r>
              <a:rPr lang="en-US" dirty="0"/>
              <a:t> Dysuria mismatch → error signal </a:t>
            </a:r>
            <a:r>
              <a:rPr lang="en-US" i="1" dirty="0"/>
              <a:t>(r = 0.44)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Gemini:</a:t>
            </a:r>
            <a:r>
              <a:rPr lang="en-US" dirty="0"/>
              <a:t> Hematuria mismatch → strongest predictor </a:t>
            </a:r>
            <a:r>
              <a:rPr lang="en-US" i="1" dirty="0"/>
              <a:t>(r = 0.68, p = 0.005)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GPT-5:</a:t>
            </a:r>
            <a:r>
              <a:rPr lang="en-US" dirty="0"/>
              <a:t> No errors (small sample) </a:t>
            </a:r>
          </a:p>
          <a:p>
            <a:r>
              <a:rPr lang="en-US" b="1" dirty="0"/>
              <a:t>Key Insight</a:t>
            </a:r>
            <a:endParaRPr lang="en-US" dirty="0"/>
          </a:p>
          <a:p>
            <a:pPr lvl="1"/>
            <a:r>
              <a:rPr lang="en-US" dirty="0"/>
              <a:t>Hematuria: </a:t>
            </a:r>
          </a:p>
          <a:p>
            <a:pPr lvl="2"/>
            <a:r>
              <a:rPr lang="en-US" dirty="0"/>
              <a:t>Hematuria mismatch → strongly associated with error (Gemini) Hematuria → </a:t>
            </a:r>
            <a:r>
              <a:rPr lang="en-US" b="1" dirty="0"/>
              <a:t>rarely documented (~20%)</a:t>
            </a:r>
          </a:p>
          <a:p>
            <a:pPr marL="914400" lvl="2" indent="0">
              <a:buNone/>
            </a:pP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Critical blind spot</a:t>
            </a:r>
            <a:r>
              <a:rPr lang="en-US" dirty="0"/>
              <a:t> ?(but small sample size)</a:t>
            </a:r>
          </a:p>
          <a:p>
            <a:r>
              <a:rPr lang="en-US" b="1" dirty="0"/>
              <a:t>Actionable Output</a:t>
            </a:r>
            <a:br>
              <a:rPr lang="en-US" dirty="0"/>
            </a:br>
            <a:r>
              <a:rPr lang="en-US" dirty="0"/>
              <a:t>Focus improvement on symptoms that are:</a:t>
            </a:r>
          </a:p>
          <a:p>
            <a:pPr lvl="1"/>
            <a:r>
              <a:rPr lang="en-US" dirty="0"/>
              <a:t>Highly diagnostic </a:t>
            </a:r>
          </a:p>
          <a:p>
            <a:pPr lvl="1"/>
            <a:r>
              <a:rPr lang="en-US" dirty="0"/>
              <a:t>Poorly documented or mis-extracted </a:t>
            </a:r>
          </a:p>
          <a:p>
            <a:r>
              <a:rPr lang="en-US" dirty="0"/>
              <a:t>→ </a:t>
            </a:r>
            <a:r>
              <a:rPr lang="en-US" b="1" dirty="0"/>
              <a:t>Highest ROI for prompt + extraction refinement (rule iteration for phenotyping)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7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0AFA-1E5F-9243-CEBB-5C9F4DC43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 and validate automated methods to electronic phenotype UTIs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236EF-90C8-AA0F-0CA2-70211E5CE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021926</a:t>
            </a:r>
          </a:p>
          <a:p>
            <a:r>
              <a:rPr lang="en-US" dirty="0"/>
              <a:t>Wenyuan Chen</a:t>
            </a:r>
          </a:p>
        </p:txBody>
      </p:sp>
    </p:spTree>
    <p:extLst>
      <p:ext uri="{BB962C8B-B14F-4D97-AF65-F5344CB8AC3E}">
        <p14:creationId xmlns:p14="http://schemas.microsoft.com/office/powerpoint/2010/main" val="135561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0717-03D6-E988-D1BF-2A47166B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 on this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70322-0996-B610-EA0F-BA597869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Electronic Phenotyping of Urinary Tract Infections as a Silver Standard Label for Machine Learning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77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795E-B2E0-8C9C-AC7D-C47594F2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Silver 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E8083-F5D4-9206-0D94-CC78083A4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Context: human label 100 cases (gold labels), each case takes 15 minutes</a:t>
            </a:r>
          </a:p>
          <a:p>
            <a:r>
              <a:rPr lang="en-US" dirty="0"/>
              <a:t>Objective: derive electronic phenotyping rules to create more accurate labels in large scale(apply to 2.4M datapoints)</a:t>
            </a:r>
          </a:p>
          <a:p>
            <a:r>
              <a:rPr lang="en-US" dirty="0"/>
              <a:t>How: </a:t>
            </a:r>
          </a:p>
          <a:p>
            <a:pPr lvl="1"/>
            <a:r>
              <a:rPr lang="en-US" dirty="0"/>
              <a:t>1. looked at clinical patterns in gold standard and derive “if-then” logic </a:t>
            </a:r>
          </a:p>
          <a:p>
            <a:pPr lvl="2"/>
            <a:r>
              <a:rPr lang="en-US" dirty="0"/>
              <a:t>"If a patient has a positive culture </a:t>
            </a:r>
            <a:r>
              <a:rPr lang="en-US" b="1" dirty="0"/>
              <a:t>and</a:t>
            </a:r>
            <a:r>
              <a:rPr lang="en-US" dirty="0"/>
              <a:t> the doctor kept them on antibiotics for more than 48 hours, they likely have a real UTI.”</a:t>
            </a:r>
          </a:p>
          <a:p>
            <a:pPr lvl="1"/>
            <a:r>
              <a:rPr lang="en-US" dirty="0"/>
              <a:t>2. rule iteration against  gold labels</a:t>
            </a:r>
          </a:p>
          <a:p>
            <a:pPr lvl="2"/>
            <a:r>
              <a:rPr lang="en-US" dirty="0"/>
              <a:t>Previous rule = Positive Culture + Antibiotics</a:t>
            </a:r>
          </a:p>
          <a:p>
            <a:pPr lvl="2"/>
            <a:r>
              <a:rPr lang="en-US" dirty="0"/>
              <a:t>Investigation: They find 50 patients where the </a:t>
            </a:r>
            <a:r>
              <a:rPr lang="en-US" b="1" dirty="0"/>
              <a:t>Doctor said "No UTI"</a:t>
            </a:r>
            <a:r>
              <a:rPr lang="en-US" dirty="0"/>
              <a:t> but the </a:t>
            </a:r>
            <a:r>
              <a:rPr lang="en-US" b="1" dirty="0"/>
              <a:t>Rule said "Yes UTI."</a:t>
            </a:r>
            <a:r>
              <a:rPr lang="en-US" dirty="0"/>
              <a:t> 4. </a:t>
            </a:r>
            <a:r>
              <a:rPr lang="en-US" b="1" dirty="0"/>
              <a:t>The Investigation:</a:t>
            </a:r>
            <a:r>
              <a:rPr lang="en-US" dirty="0"/>
              <a:t> They look closer and realize these 50 patients were pregnant. In pregnancy, doctors often give antibiotics for bacteria </a:t>
            </a:r>
            <a:r>
              <a:rPr lang="en-US" i="1" dirty="0"/>
              <a:t>even if there is no infection</a:t>
            </a:r>
            <a:r>
              <a:rPr lang="en-US" dirty="0"/>
              <a:t> (to protect the baby).</a:t>
            </a:r>
          </a:p>
          <a:p>
            <a:pPr lvl="2"/>
            <a:r>
              <a:rPr lang="en-US" dirty="0"/>
              <a:t>New rule = Positive Culture + Antibiotics </a:t>
            </a:r>
            <a:r>
              <a:rPr lang="en-US" b="1" dirty="0"/>
              <a:t>AND Patient is NOT pregnant.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3. refinement until results matches expert level as close as possible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8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E326-05AF-5AE8-3841-7B9CC303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40396-56DC-EF64-B141-76393DF99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Evaluation:</a:t>
            </a:r>
          </a:p>
          <a:p>
            <a:pPr lvl="1"/>
            <a:r>
              <a:rPr lang="en-US" dirty="0"/>
              <a:t>Label the 2.4 million dataset with this new rules and with traditional labeling(ICD10 or positive culture)</a:t>
            </a:r>
          </a:p>
          <a:p>
            <a:pPr lvl="1"/>
            <a:r>
              <a:rPr lang="en-US" dirty="0"/>
              <a:t>Train the same model (e.g. </a:t>
            </a:r>
            <a:r>
              <a:rPr lang="en-US" dirty="0" err="1"/>
              <a:t>XGBoost</a:t>
            </a:r>
            <a:r>
              <a:rPr lang="en-US" dirty="0"/>
              <a:t>) with these two set of </a:t>
            </a:r>
            <a:r>
              <a:rPr lang="en-US" dirty="0" err="1"/>
              <a:t>labellings</a:t>
            </a:r>
            <a:r>
              <a:rPr lang="en-US" dirty="0"/>
              <a:t> and validate against the 100 gold labels set</a:t>
            </a:r>
          </a:p>
          <a:p>
            <a:r>
              <a:rPr lang="en-US" dirty="0"/>
              <a:t>Result: </a:t>
            </a:r>
          </a:p>
          <a:p>
            <a:pPr lvl="1"/>
            <a:r>
              <a:rPr lang="en-US" dirty="0"/>
              <a:t>0.84 AUPRC vs 0.47 AUPRC (old models) </a:t>
            </a:r>
          </a:p>
          <a:p>
            <a:r>
              <a:rPr lang="en-US" dirty="0"/>
              <a:t>Takeaway: label/phenotype data just as important as the 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2674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52432-E5C9-90BB-32E1-DE8EBE87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Extension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F84266-4CD9-DB90-EE01-74A89AED0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709" r="-2" b="14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CEAE2-7B04-7476-ED0A-3C3CD86F3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80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F781-981B-A353-2D3F-8E9C01F5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ED09-E870-3E37-9DD1-41B6675B2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vs. Prediction</a:t>
            </a:r>
          </a:p>
          <a:p>
            <a:r>
              <a:rPr lang="en-US" dirty="0"/>
              <a:t>Retrospective vs. Prospective</a:t>
            </a:r>
          </a:p>
          <a:p>
            <a:r>
              <a:rPr lang="en-US" dirty="0"/>
              <a:t>Aim Statement vs. previous submission to ID week </a:t>
            </a:r>
          </a:p>
        </p:txBody>
      </p:sp>
    </p:spTree>
    <p:extLst>
      <p:ext uri="{BB962C8B-B14F-4D97-AF65-F5344CB8AC3E}">
        <p14:creationId xmlns:p14="http://schemas.microsoft.com/office/powerpoint/2010/main" val="3315067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FF75-55FA-4DAA-28EE-6F243B7A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4CC7-C8BB-0FE1-C2A0-C89E72822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Similar methodology for phenotyping; Use the LLM to extract symptoms and contextual reasoning  to fill the blind spot of the silver label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Rule base vs. contextual reasoning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190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FC27-183E-B071-9536-3B8F3E8D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Innovation: Uncertainty of Absence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B801-0354-B630-2708-88494134F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Context: Most current models treat a missing symptom as a negative symptom. Documentation is messy</a:t>
            </a:r>
          </a:p>
          <a:p>
            <a:pPr lvl="1"/>
            <a:r>
              <a:rPr lang="en-US" b="1" dirty="0"/>
              <a:t>True Negative:</a:t>
            </a:r>
            <a:r>
              <a:rPr lang="en-US" dirty="0"/>
              <a:t> The patient was asked and did not have the symptom.</a:t>
            </a:r>
          </a:p>
          <a:p>
            <a:pPr lvl="1"/>
            <a:r>
              <a:rPr lang="en-US" b="1" dirty="0"/>
              <a:t>Information Bias/Omission:</a:t>
            </a:r>
            <a:r>
              <a:rPr lang="en-US" dirty="0"/>
              <a:t> The clinician was busy, forgot to ask, or didn't think the symptom was relevant to the specific visit (e.g., a patient visiting for a broken arm who also happens to have a silent UTI).</a:t>
            </a:r>
          </a:p>
          <a:p>
            <a:pPr marL="0" indent="0">
              <a:buNone/>
            </a:pPr>
            <a:r>
              <a:rPr lang="en-US" dirty="0"/>
              <a:t>By quantifying this uncertainty, move from a binary "Yes/No" label to a </a:t>
            </a:r>
            <a:r>
              <a:rPr lang="en-US" b="1" dirty="0"/>
              <a:t>probabilistic label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- "Uncertainty of Missingness" defines </a:t>
            </a:r>
            <a:r>
              <a:rPr lang="en-US" i="1" dirty="0"/>
              <a:t>how much we can trust the record</a:t>
            </a:r>
            <a:r>
              <a:rPr lang="en-US" dirty="0"/>
              <a:t> when that evidence is missing. </a:t>
            </a:r>
          </a:p>
          <a:p>
            <a:pPr marL="0" indent="0">
              <a:buNone/>
            </a:pPr>
            <a:r>
              <a:rPr lang="en-US" b="1" dirty="0"/>
              <a:t>- Diagnostic Power</a:t>
            </a:r>
            <a:r>
              <a:rPr lang="en-US" dirty="0"/>
              <a:t> vs. their </a:t>
            </a:r>
            <a:r>
              <a:rPr lang="en-US" b="1" dirty="0"/>
              <a:t>Documentation Frequency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9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09E0-F06A-D581-197E-B756CB4A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B0AE-F834-24C5-5740-05DDD8E4E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8D6916-5D54-2D85-CA1E-D28D1824D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16824"/>
              </p:ext>
            </p:extLst>
          </p:nvPr>
        </p:nvGraphicFramePr>
        <p:xfrm>
          <a:off x="2361642" y="1794428"/>
          <a:ext cx="7468716" cy="4413732"/>
        </p:xfrm>
        <a:graphic>
          <a:graphicData uri="http://schemas.openxmlformats.org/drawingml/2006/table">
            <a:tbl>
              <a:tblPr/>
              <a:tblGrid>
                <a:gridCol w="1867179">
                  <a:extLst>
                    <a:ext uri="{9D8B030D-6E8A-4147-A177-3AD203B41FA5}">
                      <a16:colId xmlns:a16="http://schemas.microsoft.com/office/drawing/2014/main" val="3191444742"/>
                    </a:ext>
                  </a:extLst>
                </a:gridCol>
                <a:gridCol w="1867179">
                  <a:extLst>
                    <a:ext uri="{9D8B030D-6E8A-4147-A177-3AD203B41FA5}">
                      <a16:colId xmlns:a16="http://schemas.microsoft.com/office/drawing/2014/main" val="3749620425"/>
                    </a:ext>
                  </a:extLst>
                </a:gridCol>
                <a:gridCol w="1867179">
                  <a:extLst>
                    <a:ext uri="{9D8B030D-6E8A-4147-A177-3AD203B41FA5}">
                      <a16:colId xmlns:a16="http://schemas.microsoft.com/office/drawing/2014/main" val="4218856638"/>
                    </a:ext>
                  </a:extLst>
                </a:gridCol>
                <a:gridCol w="1867179">
                  <a:extLst>
                    <a:ext uri="{9D8B030D-6E8A-4147-A177-3AD203B41FA5}">
                      <a16:colId xmlns:a16="http://schemas.microsoft.com/office/drawing/2014/main" val="2197625245"/>
                    </a:ext>
                  </a:extLst>
                </a:gridCol>
              </a:tblGrid>
              <a:tr h="30307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Action Item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Input(s)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Output(s)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9784"/>
                  </a:ext>
                </a:extLst>
              </a:tr>
              <a:tr h="88758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Structured Logic Baseline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Patient MRN, Lab results (Culture+), Meds (Antimicrobials), Vitals (Fever)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Rule-Based "Silver Label"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(e.g., "UTI Present" = True)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245882"/>
                  </a:ext>
                </a:extLst>
              </a:tr>
              <a:tr h="6927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LLM Deep Extraction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Clinical Notes (HPI, ROS, Assessment sections)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LLM Symptom Matrix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(Yes/Negation/No for Dysuria, Urgency, etc.)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602921"/>
                  </a:ext>
                </a:extLst>
              </a:tr>
              <a:tr h="10824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Uncertainty Quantification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Note structure (Note Type, Length), LLM Symptom Matrix, Diagnostic Power Weights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Confidence Score (CS)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Uncertainty of Absence (UoA)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label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415527"/>
                  </a:ext>
                </a:extLst>
              </a:tr>
              <a:tr h="6927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Hybrid Phenotyping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Rule-Based Silver Label + LLM Symptom Matrix + Confidence Score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Enhanced Deep Phenotype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(Refined UTI classification)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53683"/>
                  </a:ext>
                </a:extLst>
              </a:tr>
              <a:tr h="6927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Gold-Label Validation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358 Adjudicated Gold Labels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Performance Metrics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(Precision, Recall, F1, and CS-Calibration)</a:t>
                      </a:r>
                    </a:p>
                  </a:txBody>
                  <a:tcPr marL="81182" marR="81182" marT="54121" marB="541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18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39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D2A4-DCBF-78DB-0AD5-95AA703E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86BA4-F2D7-C2F7-85F9-A7DC64837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1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14967</TotalTime>
  <Words>888</Words>
  <Application>Microsoft Macintosh PowerPoint</Application>
  <PresentationFormat>Widescreen</PresentationFormat>
  <Paragraphs>116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Google Sans Text</vt:lpstr>
      <vt:lpstr>Aptos</vt:lpstr>
      <vt:lpstr>Aptos Display</vt:lpstr>
      <vt:lpstr>Arial</vt:lpstr>
      <vt:lpstr>Office Theme</vt:lpstr>
      <vt:lpstr>Prelim Results on 15 cases</vt:lpstr>
      <vt:lpstr>Understanding LLM Performance in UTI Phenotyping</vt:lpstr>
      <vt:lpstr>UTI Prediction Accuracy</vt:lpstr>
      <vt:lpstr>Why Models Fail &amp; What to Fix</vt:lpstr>
      <vt:lpstr>Develop and validate automated methods to electronic phenotype UTIs</vt:lpstr>
      <vt:lpstr>Previous work on this aim</vt:lpstr>
      <vt:lpstr>Silver label</vt:lpstr>
      <vt:lpstr>PowerPoint Presentation</vt:lpstr>
      <vt:lpstr>Extension</vt:lpstr>
      <vt:lpstr>Questions</vt:lpstr>
      <vt:lpstr>Design </vt:lpstr>
      <vt:lpstr>Innovation: Uncertainty of Absence ?</vt:lpstr>
      <vt:lpstr>Prelim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 Chen</dc:creator>
  <cp:lastModifiedBy>Sandy Chen</cp:lastModifiedBy>
  <cp:revision>6</cp:revision>
  <dcterms:created xsi:type="dcterms:W3CDTF">2026-02-19T17:19:21Z</dcterms:created>
  <dcterms:modified xsi:type="dcterms:W3CDTF">2026-04-02T17:58:29Z</dcterms:modified>
</cp:coreProperties>
</file>